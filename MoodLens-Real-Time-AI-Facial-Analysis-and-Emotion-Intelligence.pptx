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Barlow" panose="00000500000000000000" pitchFamily="2" charset="0"/>
      <p:regular r:id="rId14"/>
    </p:embeddedFont>
    <p:embeddedFont>
      <p:font typeface="Barlow Bold" panose="00000800000000000000" charset="0"/>
      <p:regular r:id="rId15"/>
    </p:embeddedFont>
    <p:embeddedFont>
      <p:font typeface="Barlow Medium" panose="00000600000000000000" pitchFamily="2" charset="0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Fragment Mono" panose="020B0604020202020204" charset="0"/>
      <p:regular r:id="rId21"/>
    </p:embeddedFont>
    <p:embeddedFont>
      <p:font typeface="Saira Semi Condensed Extra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99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11822" cy="6858000"/>
          </a:xfrm>
          <a:prstGeom prst="rect">
            <a:avLst/>
          </a:prstGeom>
          <a:solidFill>
            <a:srgbClr val="1E0E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09585" y="610658"/>
            <a:ext cx="650223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MOODLENS · COMPUTER VISION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2008052"/>
            <a:ext cx="5892653" cy="9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600" kern="100" spc="-76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MoodLens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09585" y="3052266"/>
            <a:ext cx="589265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Real-Time AI Facial Analysis &amp; Emotion Intelligence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585" y="4021435"/>
            <a:ext cx="589265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High-performance computer vision for live facial expression analytics, from camera frame to production-ready signal.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4762440"/>
            <a:ext cx="589265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FastAPI · OpenCV · DeepFace · TensorFlow · Docker · Vanilla JS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416" y="1143000"/>
            <a:ext cx="3428914" cy="45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05A6BF-4B13-B77C-0A0E-573B7EEC6D79}"/>
              </a:ext>
            </a:extLst>
          </p:cNvPr>
          <p:cNvSpPr txBox="1"/>
          <p:nvPr/>
        </p:nvSpPr>
        <p:spPr>
          <a:xfrm>
            <a:off x="589725" y="5482721"/>
            <a:ext cx="3161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By Amulya </a:t>
            </a:r>
            <a:r>
              <a:rPr lang="en-IN" sz="2000" dirty="0" err="1">
                <a:solidFill>
                  <a:schemeClr val="bg1"/>
                </a:solidFill>
              </a:rPr>
              <a:t>Gavankar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07FB90-E80B-FF2A-9FA7-0A21EF674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Three capabilities turn raw video into usable emotion intelligence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3930"/>
          <a:ext cx="10972526" cy="1733506"/>
        </p:xfrm>
        <a:graphic>
          <a:graphicData uri="http://schemas.openxmlformats.org/drawingml/2006/table">
            <a:tbl>
              <a:tblPr/>
              <a:tblGrid>
                <a:gridCol w="274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Capability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Signal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Deployment value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Real-time precision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Sub-100ms frame evaluation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Immediate feedback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Modular AI engine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ROI localization + deep classification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Backend flexibility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Cloud + edge scale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Docker + throttling + tracking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Concurrent clients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3380680"/>
            <a:ext cx="3454314" cy="184080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REAL-TIME PRECISION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8179" y="3895130"/>
            <a:ext cx="29971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webcam and video processing with sub-100ms frame evaluation and probability scoring across seven core expressions.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68691" y="3380680"/>
            <a:ext cx="3454314" cy="184080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MODULAR AI ENGINE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97285" y="3895130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 face localization paired with deep neural classification and swappable model backends.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27797" y="3380680"/>
            <a:ext cx="3454314" cy="184080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1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CLOUD + EDGE SCALE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56391" y="3895130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Dockerized services, rate limiting, and frame tracking for concurrent multi-client stability.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305CAD-650B-A7C2-B37B-59450FCBE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Every frame moves through four decoupled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1074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Independent scaling between frontend, gateway, inference, and state layers.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897955"/>
            <a:ext cx="2628834" cy="2711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6" name="Shape 4"/>
          <p:cNvSpPr/>
          <p:nvPr/>
        </p:nvSpPr>
        <p:spPr>
          <a:xfrm>
            <a:off x="838179" y="212655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7" name="Text 5"/>
          <p:cNvSpPr/>
          <p:nvPr/>
        </p:nvSpPr>
        <p:spPr>
          <a:xfrm>
            <a:off x="927871" y="2209105"/>
            <a:ext cx="76039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179" y="2555180"/>
            <a:ext cx="21716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3006824"/>
            <a:ext cx="2171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Browser or camera stream becomes a frame payload.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90815" y="1897955"/>
            <a:ext cx="2628834" cy="2711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9409" y="212655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2" name="Text 10"/>
          <p:cNvSpPr/>
          <p:nvPr/>
        </p:nvSpPr>
        <p:spPr>
          <a:xfrm>
            <a:off x="3691143" y="2209105"/>
            <a:ext cx="79621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9409" y="2555180"/>
            <a:ext cx="21716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Control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9409" y="3006824"/>
            <a:ext cx="2171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FastAPI routing applies token-bucket rate limiting via </a:t>
            </a: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rate_limit.py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046" y="1897955"/>
            <a:ext cx="2628834" cy="2711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640" y="212655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74060" y="2209105"/>
            <a:ext cx="79293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640" y="2555180"/>
            <a:ext cx="21716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Infer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640" y="3006824"/>
            <a:ext cx="217164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OpenCV Haar Cascades localize regions of interest; DeepFace analyzes them via </a:t>
            </a: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engines.py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53276" y="1897955"/>
            <a:ext cx="2628834" cy="2711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81870" y="2126555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22" name="Text 20"/>
          <p:cNvSpPr/>
          <p:nvPr/>
        </p:nvSpPr>
        <p:spPr>
          <a:xfrm>
            <a:off x="9249933" y="2209105"/>
            <a:ext cx="80365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1870" y="2555180"/>
            <a:ext cx="21716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Track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81870" y="3006824"/>
            <a:ext cx="217164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tracker.py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calculates sequential state and returns real-time JSON metrics.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9585" y="4787205"/>
            <a:ext cx="7680728" cy="129540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79" y="4965005"/>
            <a:ext cx="72235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FRAME PAYLOAD → ROUTED REQUEST → ROI + EMOTION VECTOR → SEQUENTIAL STATE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90313" y="4787205"/>
            <a:ext cx="3291797" cy="12954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8" name="Text 26"/>
          <p:cNvSpPr/>
          <p:nvPr/>
        </p:nvSpPr>
        <p:spPr>
          <a:xfrm>
            <a:off x="8518907" y="4965005"/>
            <a:ext cx="30632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JSON METRICS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18907" y="5359499"/>
            <a:ext cx="283460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{"emotion":"happy","confidence":0.82}</a:t>
            </a:r>
            <a:endParaRPr lang="en-US" sz="15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F17805C-2E7E-46A6-0CBA-3859654A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INFERENCE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Dual-engine inference balances speed with classification depth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43930"/>
            <a:ext cx="4731921" cy="409962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724389"/>
            <a:ext cx="445252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1 · LOCALIZE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8978" y="2040517"/>
            <a:ext cx="4173135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kern="100" spc="-56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Fast ROI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88978" y="2797373"/>
            <a:ext cx="41731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OpenCV Haar Cascade detection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8978" y="3249017"/>
            <a:ext cx="41731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Lightweight detection extracts facial ROIs and calculates dynamic bounding boxes.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8978" y="3953073"/>
            <a:ext cx="1377023" cy="38100"/>
          </a:xfrm>
          <a:prstGeom prst="roundRect">
            <a:avLst>
              <a:gd name="adj" fmla="val 49999"/>
            </a:avLst>
          </a:prstGeom>
          <a:solidFill>
            <a:srgbClr val="F8ED43"/>
          </a:solidFill>
          <a:ln/>
        </p:spPr>
      </p:sp>
      <p:sp>
        <p:nvSpPr>
          <p:cNvPr id="10" name="Text 8"/>
          <p:cNvSpPr/>
          <p:nvPr/>
        </p:nvSpPr>
        <p:spPr>
          <a:xfrm>
            <a:off x="888978" y="4149923"/>
            <a:ext cx="41731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LOW LATENCY · DYNAMIC BOUNDING BOXES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98596" y="1443930"/>
            <a:ext cx="5783515" cy="409962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2" name="Text 10"/>
          <p:cNvSpPr/>
          <p:nvPr/>
        </p:nvSpPr>
        <p:spPr>
          <a:xfrm>
            <a:off x="6077989" y="1724389"/>
            <a:ext cx="550412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2 · CLASSIFY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77989" y="2040517"/>
            <a:ext cx="5224729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kern="100" spc="-56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Deep signal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077989" y="2797373"/>
            <a:ext cx="522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DeepFace + TensorFlow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77989" y="3249017"/>
            <a:ext cx="522472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ROI passes through a deep convolutional network for classification depth.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77989" y="3905448"/>
            <a:ext cx="1639946" cy="1120775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6583" y="4134048"/>
            <a:ext cx="14113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HAPPY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6583" y="4528542"/>
            <a:ext cx="14113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0.82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70330" y="3905448"/>
            <a:ext cx="1639946" cy="1120775"/>
          </a:xfrm>
          <a:prstGeom prst="rect">
            <a:avLst/>
          </a:prstGeom>
          <a:solidFill>
            <a:srgbClr val="C7D14F"/>
          </a:solidFill>
          <a:ln/>
        </p:spPr>
      </p:sp>
      <p:sp>
        <p:nvSpPr>
          <p:cNvPr id="20" name="Text 18"/>
          <p:cNvSpPr/>
          <p:nvPr/>
        </p:nvSpPr>
        <p:spPr>
          <a:xfrm>
            <a:off x="8098925" y="4134048"/>
            <a:ext cx="14113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NEUTRAL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8925" y="4528542"/>
            <a:ext cx="14113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0.11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62672" y="3905448"/>
            <a:ext cx="1640045" cy="112077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23" name="Text 21"/>
          <p:cNvSpPr/>
          <p:nvPr/>
        </p:nvSpPr>
        <p:spPr>
          <a:xfrm>
            <a:off x="9891267" y="4134048"/>
            <a:ext cx="14114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SURPRISE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91267" y="4528542"/>
            <a:ext cx="14114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585" y="5695950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EMOTION VECTOR · HAPPY · SAD · NEUTRAL · ANGRY · SURPRISE · FEAR · DISGUST · CONFIDENCE SCORING · SMILE DETECTION</a:t>
            </a:r>
            <a:endParaRPr lang="en-US" sz="15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300E18B-0F18-5B05-E56C-393AC961C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STATE ESTIMATION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Tracking turns noisy frame-by-frame guesses into stable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20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5" name="Text 3"/>
          <p:cNvSpPr/>
          <p:nvPr/>
        </p:nvSpPr>
        <p:spPr>
          <a:xfrm>
            <a:off x="745412" y="1564580"/>
            <a:ext cx="66812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30272" y="1466155"/>
            <a:ext cx="52627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Persist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30272" y="1917799"/>
            <a:ext cx="526272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Maintain detection continuity across consecutive frame windows.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752130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9" name="Text 7"/>
          <p:cNvSpPr/>
          <p:nvPr/>
        </p:nvSpPr>
        <p:spPr>
          <a:xfrm>
            <a:off x="728446" y="2834680"/>
            <a:ext cx="70205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0272" y="2736255"/>
            <a:ext cx="52627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Aggregate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0272" y="3187898"/>
            <a:ext cx="526272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 sliding-window averages to reduce single-frame jitter.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3746103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3" name="Text 11"/>
          <p:cNvSpPr/>
          <p:nvPr/>
        </p:nvSpPr>
        <p:spPr>
          <a:xfrm>
            <a:off x="730033" y="3828653"/>
            <a:ext cx="69878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0272" y="3730228"/>
            <a:ext cx="52627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Normalize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30272" y="4181872"/>
            <a:ext cx="526272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 emotion confidence vectors and face-position coordinates.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5016302"/>
            <a:ext cx="330192" cy="330200"/>
          </a:xfrm>
          <a:prstGeom prst="ellipse">
            <a:avLst/>
          </a:prstGeom>
          <a:solidFill>
            <a:srgbClr val="F8ED43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76" y="5098852"/>
            <a:ext cx="70949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0272" y="5000426"/>
            <a:ext cx="52627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8ED43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Protect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30272" y="5452070"/>
            <a:ext cx="526272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Throttle frames so high-FPS streams do not overwhelm the backend.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0090" y="1443930"/>
            <a:ext cx="4732021" cy="480447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21" name="Text 19"/>
          <p:cNvSpPr/>
          <p:nvPr/>
        </p:nvSpPr>
        <p:spPr>
          <a:xfrm>
            <a:off x="7078684" y="1673589"/>
            <a:ext cx="450342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SLIDING-WINDOW STABILIZATION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684" y="1951236"/>
            <a:ext cx="4274832" cy="28531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78F766-7494-C948-7F63-8FB816DEE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PRODUCTION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FastAPI provides the production boundary around the AI core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3930"/>
          <a:ext cx="11048525" cy="2168470"/>
        </p:xfrm>
        <a:graphic>
          <a:graphicData uri="http://schemas.openxmlformats.org/drawingml/2006/table">
            <a:tbl>
              <a:tblPr/>
              <a:tblGrid>
                <a:gridCol w="2388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3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1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Layer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File or mechanism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Outcome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Transport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Async REST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High-throughput request handling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Configuration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config.py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Environment-based tuning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Security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CORS middleware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Controlled client access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Validation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Pydantic schemas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Strict frame contracts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3815655"/>
            <a:ext cx="2514537" cy="1949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4044255"/>
            <a:ext cx="20573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ASYNC REST ENDPOINTS</a:t>
            </a:r>
            <a:endParaRPr lang="en-US" sz="1500" dirty="0"/>
          </a:p>
        </p:txBody>
      </p:sp>
      <p:sp>
        <p:nvSpPr>
          <p:cNvPr id="4" name="Text 4"/>
          <p:cNvSpPr/>
          <p:nvPr/>
        </p:nvSpPr>
        <p:spPr>
          <a:xfrm>
            <a:off x="838179" y="4714974"/>
            <a:ext cx="205734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High-throughput HTTP surface with low overhead.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28914" y="3815655"/>
            <a:ext cx="2514537" cy="1949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9" name="Text 6"/>
          <p:cNvSpPr/>
          <p:nvPr/>
        </p:nvSpPr>
        <p:spPr>
          <a:xfrm>
            <a:off x="3657509" y="4044255"/>
            <a:ext cx="20573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CENTRALIZED CONFIGURATION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509" y="4714974"/>
            <a:ext cx="205734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Environment-based tuning through </a:t>
            </a: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48244" y="3815655"/>
            <a:ext cx="2514537" cy="1949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2" name="Text 9"/>
          <p:cNvSpPr/>
          <p:nvPr/>
        </p:nvSpPr>
        <p:spPr>
          <a:xfrm>
            <a:off x="6476838" y="4044255"/>
            <a:ext cx="228594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CORS + SECURITY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76838" y="4438749"/>
            <a:ext cx="205734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Controlled browser integration for web clients.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067573" y="3815655"/>
            <a:ext cx="2514537" cy="194945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5" name="Text 12"/>
          <p:cNvSpPr/>
          <p:nvPr/>
        </p:nvSpPr>
        <p:spPr>
          <a:xfrm>
            <a:off x="9296167" y="4044255"/>
            <a:ext cx="228594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296167" y="4438749"/>
            <a:ext cx="205734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Pydantic schemas enforce strict frame payload contracts.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854958-69C6-9AFD-7EE9-E2C5D8E0A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REAL-TIME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The dashboard makes the model legible in real time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443930"/>
            <a:ext cx="10972526" cy="29722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6" y="4701270"/>
            <a:ext cx="2628834" cy="167322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6" name="Text 3"/>
          <p:cNvSpPr/>
          <p:nvPr/>
        </p:nvSpPr>
        <p:spPr>
          <a:xfrm>
            <a:off x="838180" y="4929870"/>
            <a:ext cx="240024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LIVE VIDEO CANVAS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8180" y="5324364"/>
            <a:ext cx="2171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HTML5 stream with bounding-box overlays from </a:t>
            </a: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90816" y="4701270"/>
            <a:ext cx="2628834" cy="167322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9" name="Text 6"/>
          <p:cNvSpPr/>
          <p:nvPr/>
        </p:nvSpPr>
        <p:spPr>
          <a:xfrm>
            <a:off x="3619410" y="4929870"/>
            <a:ext cx="21716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PROBABILITY METERS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19410" y="5600589"/>
            <a:ext cx="21716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Animated confidence bars for every tracked emotion.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2047" y="4701270"/>
            <a:ext cx="2628834" cy="167322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641" y="4929870"/>
            <a:ext cx="240024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INTERACTION LAYER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640" y="5076924"/>
            <a:ext cx="21716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Webcam controls with instant feed toggles.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953276" y="4720110"/>
            <a:ext cx="2628834" cy="140694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5" name="Text 12"/>
          <p:cNvSpPr/>
          <p:nvPr/>
        </p:nvSpPr>
        <p:spPr>
          <a:xfrm>
            <a:off x="9181870" y="4682430"/>
            <a:ext cx="240024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VISUAL SYSTEM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81870" y="5076924"/>
            <a:ext cx="2171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Dark theme, high-contrast indicator LEDs, and clear state hierarchy.</a:t>
            </a:r>
            <a:endParaRPr lang="en-US" sz="15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6C0CF01-B3B5-3317-A997-36A93E486497}"/>
              </a:ext>
            </a:extLst>
          </p:cNvPr>
          <p:cNvSpPr/>
          <p:nvPr/>
        </p:nvSpPr>
        <p:spPr>
          <a:xfrm>
            <a:off x="6400641" y="5343204"/>
            <a:ext cx="21716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Webcam controls with instant feed toggles.</a:t>
            </a:r>
            <a:endParaRPr lang="en-US" sz="15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509A16FD-F124-6DA7-1C46-1AC8CDB65712}"/>
              </a:ext>
            </a:extLst>
          </p:cNvPr>
          <p:cNvSpPr/>
          <p:nvPr/>
        </p:nvSpPr>
        <p:spPr>
          <a:xfrm>
            <a:off x="8953277" y="4720110"/>
            <a:ext cx="2628834" cy="1673225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58458B4A-F39A-B4B5-3855-D13EC139C82D}"/>
              </a:ext>
            </a:extLst>
          </p:cNvPr>
          <p:cNvSpPr/>
          <p:nvPr/>
        </p:nvSpPr>
        <p:spPr>
          <a:xfrm>
            <a:off x="9181871" y="4948710"/>
            <a:ext cx="240024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VISUAL SYSTEM</a:t>
            </a:r>
            <a:endParaRPr lang="en-US" sz="15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EDCCEBD-60E2-A48B-710E-A483D3F0AA9D}"/>
              </a:ext>
            </a:extLst>
          </p:cNvPr>
          <p:cNvSpPr/>
          <p:nvPr/>
        </p:nvSpPr>
        <p:spPr>
          <a:xfrm>
            <a:off x="9181871" y="5343204"/>
            <a:ext cx="2171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Dark theme, high-contrast indicator LEDs, and clear state hierarchy.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C46042-7CD2-4C5C-5BB1-2666A399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871"/>
          <a:stretch>
            <a:fillRect/>
          </a:stretch>
        </p:blipFill>
        <p:spPr>
          <a:xfrm>
            <a:off x="827477" y="2245129"/>
            <a:ext cx="6720987" cy="2366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AFB01A5-5955-E96B-D588-512ED017F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151" y="6393335"/>
            <a:ext cx="1119327" cy="45134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C31215-B37B-3CE3-2290-CB0BF790A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RUNTIME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Docker keeps the runtime, AI stack, and developer workflow aligned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43930"/>
            <a:ext cx="4381390" cy="480447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698989"/>
            <a:ext cx="412739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CONTAINER TOPOLOGY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3578" y="1976636"/>
            <a:ext cx="38734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BASE 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3578" y="2371130"/>
            <a:ext cx="387340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3.10 slim container optimized for runtime footprint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3578" y="3068836"/>
            <a:ext cx="38734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3578" y="3463330"/>
            <a:ext cx="387340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Docker Compose supports multi-container development and production parity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3578" y="4161036"/>
            <a:ext cx="38734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AI DEPENDENCIES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3578" y="4555530"/>
            <a:ext cx="38734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DeepFace, TensorFlow, and Keras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8164" y="1673589"/>
            <a:ext cx="613394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DEPENDENCY MATRIX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8164" y="1951236"/>
          <a:ext cx="6133947" cy="2184356"/>
        </p:xfrm>
        <a:graphic>
          <a:graphicData uri="http://schemas.openxmlformats.org/drawingml/2006/table">
            <a:tbl>
              <a:tblPr/>
              <a:tblGrid>
                <a:gridCol w="269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Requirements file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Contents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requirements.txt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FastAPI, Uvicorn, and OpenCV-headless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requirements-deepface.txt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DeepFace, TensorFlow, and Keras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requirements-dev.txt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Test tooling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FCCA27A-FECF-AE78-4C47-B8EC0F35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RELIABILITY 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Reliability is tested at the API, transport, and engine boundaries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3930"/>
          <a:ext cx="10972526" cy="1733506"/>
        </p:xfrm>
        <a:graphic>
          <a:graphicData uri="http://schemas.openxmlformats.org/drawingml/2006/table">
            <a:tbl>
              <a:tblPr/>
              <a:tblGrid>
                <a:gridCol w="296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Validation area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Tool or fixture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ED43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Pass condition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API behavior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PyTest + </a:t>
                      </a: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test_api.py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Expected endpoint response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Async transport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httpx</a:t>
                      </a: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 client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Stable concurrent request behavior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Engine fallback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Zero-box fixture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3F1F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Graceful no-face response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0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3380680"/>
            <a:ext cx="3454314" cy="156458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UNIT + INTEGRATION COVERAGE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8179" y="389513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PyTest tests backend endpoints through </a:t>
            </a: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test_api.py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68691" y="3380680"/>
            <a:ext cx="3454314" cy="156458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ASYNC VALIDATION</a:t>
            </a:r>
            <a:endParaRPr lang="en-US" sz="1100" dirty="0"/>
          </a:p>
        </p:txBody>
      </p:sp>
      <p:sp>
        <p:nvSpPr>
          <p:cNvPr id="4" name="Text 7"/>
          <p:cNvSpPr/>
          <p:nvPr/>
        </p:nvSpPr>
        <p:spPr>
          <a:xfrm>
            <a:off x="4597285" y="3895130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4045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httpx</a:t>
            </a: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simulates realistic asynchronous HTTP behavior.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27797" y="3380680"/>
            <a:ext cx="3454314" cy="1564580"/>
          </a:xfrm>
          <a:prstGeom prst="rect">
            <a:avLst/>
          </a:prstGeom>
          <a:solidFill>
            <a:srgbClr val="40456A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1" y="3610339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FALLBACK RESILIENCE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56391" y="3895130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Tests verify graceful behavior when face detection returns zero bounding boxes.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9585" y="5123061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F8ED43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API CONTRACTS · TRANSPORT BEHAVIOR · ENGINE FALLBACKS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C73EA1-C99B-1303-585F-30BA1A0F8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C7D14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ROADMAP · NEXT SENSING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955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15" dirty="0">
                <a:solidFill>
                  <a:srgbClr val="F8ED43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Four expansion moves take MoodLens from single-face inference to ambient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854458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Stabilize the signal first, then widen the sensing surface.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3913981"/>
            <a:ext cx="10972526" cy="28575"/>
          </a:xfrm>
          <a:prstGeom prst="roundRect">
            <a:avLst>
              <a:gd name="adj" fmla="val 49999"/>
            </a:avLst>
          </a:prstGeom>
          <a:solidFill>
            <a:srgbClr val="948D1E"/>
          </a:solidFill>
          <a:ln/>
        </p:spPr>
      </p:sp>
      <p:sp>
        <p:nvSpPr>
          <p:cNvPr id="6" name="Shape 4"/>
          <p:cNvSpPr/>
          <p:nvPr/>
        </p:nvSpPr>
        <p:spPr>
          <a:xfrm>
            <a:off x="2718327" y="3342481"/>
            <a:ext cx="28574" cy="571500"/>
          </a:xfrm>
          <a:prstGeom prst="roundRect">
            <a:avLst>
              <a:gd name="adj" fmla="val 50000"/>
            </a:avLst>
          </a:prstGeom>
          <a:solidFill>
            <a:srgbClr val="948D1E"/>
          </a:solidFill>
          <a:ln/>
        </p:spPr>
      </p:sp>
      <p:sp>
        <p:nvSpPr>
          <p:cNvPr id="7" name="Shape 5"/>
          <p:cNvSpPr/>
          <p:nvPr/>
        </p:nvSpPr>
        <p:spPr>
          <a:xfrm>
            <a:off x="2518307" y="3699669"/>
            <a:ext cx="428614" cy="428625"/>
          </a:xfrm>
          <a:prstGeom prst="roundRect">
            <a:avLst>
              <a:gd name="adj" fmla="val 6667"/>
            </a:avLst>
          </a:prstGeom>
          <a:solidFill>
            <a:srgbClr val="7B7405"/>
          </a:solidFill>
          <a:ln/>
        </p:spPr>
      </p:sp>
      <p:sp>
        <p:nvSpPr>
          <p:cNvPr id="8" name="Text 6"/>
          <p:cNvSpPr/>
          <p:nvPr/>
        </p:nvSpPr>
        <p:spPr>
          <a:xfrm>
            <a:off x="2589743" y="3763963"/>
            <a:ext cx="2857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kern="100" spc="-11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00080" y="2221111"/>
            <a:ext cx="386506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100" spc="-8" dirty="0">
                <a:solidFill>
                  <a:srgbClr val="F3F1F8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MULTI-FACE TRACKING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080" y="2599531"/>
            <a:ext cx="386506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 emotion across multiple people in crowded environments.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60417" y="3913981"/>
            <a:ext cx="28574" cy="571500"/>
          </a:xfrm>
          <a:prstGeom prst="roundRect">
            <a:avLst>
              <a:gd name="adj" fmla="val 50000"/>
            </a:avLst>
          </a:prstGeom>
          <a:solidFill>
            <a:srgbClr val="948D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0397" y="3699669"/>
            <a:ext cx="428614" cy="428625"/>
          </a:xfrm>
          <a:prstGeom prst="roundRect">
            <a:avLst>
              <a:gd name="adj" fmla="val 6667"/>
            </a:avLst>
          </a:prstGeom>
          <a:solidFill>
            <a:srgbClr val="7B7405"/>
          </a:solidFill>
          <a:ln/>
        </p:spPr>
      </p:sp>
      <p:sp>
        <p:nvSpPr>
          <p:cNvPr id="13" name="Text 11"/>
          <p:cNvSpPr/>
          <p:nvPr/>
        </p:nvSpPr>
        <p:spPr>
          <a:xfrm>
            <a:off x="4831832" y="3763963"/>
            <a:ext cx="2857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kern="100" spc="-11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042120" y="4675981"/>
            <a:ext cx="386516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100" spc="-8" dirty="0">
                <a:solidFill>
                  <a:srgbClr val="F3F1F8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42169" y="5054402"/>
            <a:ext cx="38651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full-duplex streaming for lower-latency frame transport.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02506" y="3342481"/>
            <a:ext cx="28574" cy="571500"/>
          </a:xfrm>
          <a:prstGeom prst="roundRect">
            <a:avLst>
              <a:gd name="adj" fmla="val 50000"/>
            </a:avLst>
          </a:prstGeom>
          <a:solidFill>
            <a:srgbClr val="948D1E"/>
          </a:solidFill>
          <a:ln/>
        </p:spPr>
      </p:sp>
      <p:sp>
        <p:nvSpPr>
          <p:cNvPr id="17" name="Shape 15"/>
          <p:cNvSpPr/>
          <p:nvPr/>
        </p:nvSpPr>
        <p:spPr>
          <a:xfrm>
            <a:off x="7002486" y="3699669"/>
            <a:ext cx="428614" cy="428625"/>
          </a:xfrm>
          <a:prstGeom prst="roundRect">
            <a:avLst>
              <a:gd name="adj" fmla="val 6667"/>
            </a:avLst>
          </a:prstGeom>
          <a:solidFill>
            <a:srgbClr val="7B7405"/>
          </a:solidFill>
          <a:ln/>
        </p:spPr>
      </p:sp>
      <p:sp>
        <p:nvSpPr>
          <p:cNvPr id="18" name="Text 16"/>
          <p:cNvSpPr/>
          <p:nvPr/>
        </p:nvSpPr>
        <p:spPr>
          <a:xfrm>
            <a:off x="7073921" y="3763963"/>
            <a:ext cx="2857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kern="100" spc="-11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284209" y="2221111"/>
            <a:ext cx="386516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100" spc="-8" dirty="0">
                <a:solidFill>
                  <a:srgbClr val="F3F1F8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EDGE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4258" y="2599531"/>
            <a:ext cx="38651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 for Raspberry Pi 4 and NVIDIA Jetson Nano devices.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44694" y="3913981"/>
            <a:ext cx="28574" cy="571500"/>
          </a:xfrm>
          <a:prstGeom prst="roundRect">
            <a:avLst>
              <a:gd name="adj" fmla="val 50000"/>
            </a:avLst>
          </a:prstGeom>
          <a:solidFill>
            <a:srgbClr val="948D1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4674" y="3699669"/>
            <a:ext cx="428614" cy="428625"/>
          </a:xfrm>
          <a:prstGeom prst="roundRect">
            <a:avLst>
              <a:gd name="adj" fmla="val 6667"/>
            </a:avLst>
          </a:prstGeom>
          <a:solidFill>
            <a:srgbClr val="7B7405"/>
          </a:solidFill>
          <a:ln/>
        </p:spPr>
      </p:sp>
      <p:sp>
        <p:nvSpPr>
          <p:cNvPr id="23" name="Text 21"/>
          <p:cNvSpPr/>
          <p:nvPr/>
        </p:nvSpPr>
        <p:spPr>
          <a:xfrm>
            <a:off x="9316110" y="3763963"/>
            <a:ext cx="2857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kern="100" spc="-11" dirty="0">
                <a:solidFill>
                  <a:srgbClr val="FFFFFF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526397" y="4675981"/>
            <a:ext cx="386516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100" spc="-8" dirty="0">
                <a:solidFill>
                  <a:srgbClr val="F3F1F8"/>
                </a:solidFill>
                <a:latin typeface="Saira Semi Condensed ExtraBold" pitchFamily="34" charset="0"/>
                <a:ea typeface="Saira Semi Condensed ExtraBold" pitchFamily="34" charset="-122"/>
                <a:cs typeface="Saira Semi Condensed ExtraBold" pitchFamily="34" charset="-120"/>
              </a:rPr>
              <a:t>ATTENTION ANALYTICS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26447" y="5054402"/>
            <a:ext cx="386516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F3F1F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gaze tracking and head-pose estimation.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585" y="5778302"/>
            <a:ext cx="10972526" cy="508000"/>
          </a:xfrm>
          <a:prstGeom prst="rect">
            <a:avLst/>
          </a:prstGeom>
          <a:solidFill>
            <a:srgbClr val="F8ED43"/>
          </a:solidFill>
          <a:ln/>
        </p:spPr>
      </p:sp>
      <p:sp>
        <p:nvSpPr>
          <p:cNvPr id="27" name="Text 25"/>
          <p:cNvSpPr/>
          <p:nvPr/>
        </p:nvSpPr>
        <p:spPr>
          <a:xfrm>
            <a:off x="863578" y="5867202"/>
            <a:ext cx="206240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kern="100" spc="3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DESTINATION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78284" y="5889426"/>
            <a:ext cx="82498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Ambient Intelligence</a:t>
            </a:r>
            <a:endParaRPr lang="en-US" sz="2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E5FC88-6ADC-7EAF-2DE2-1246DD0E8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ods_deepface_test_10s">
            <a:hlinkClick r:id="" action="ppaction://media"/>
            <a:extLst>
              <a:ext uri="{FF2B5EF4-FFF2-40B4-BE49-F238E27FC236}">
                <a16:creationId xmlns:a16="http://schemas.microsoft.com/office/drawing/2014/main" id="{88647528-5DE7-DAD4-295E-95E4D10745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5847" y="816325"/>
            <a:ext cx="9940305" cy="55914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0B06F9-663C-3730-C618-55A377730255}"/>
              </a:ext>
            </a:extLst>
          </p:cNvPr>
          <p:cNvSpPr txBox="1"/>
          <p:nvPr/>
        </p:nvSpPr>
        <p:spPr>
          <a:xfrm>
            <a:off x="4947287" y="13320"/>
            <a:ext cx="22974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5F468-CB01-E796-833C-58CAEB0CE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151" y="6323083"/>
            <a:ext cx="1119327" cy="52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0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793</Words>
  <Application>Microsoft Office PowerPoint</Application>
  <PresentationFormat>Widescreen</PresentationFormat>
  <Paragraphs>182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Barlow</vt:lpstr>
      <vt:lpstr>Arial</vt:lpstr>
      <vt:lpstr>Fragment Mono</vt:lpstr>
      <vt:lpstr>Saira Semi Condensed ExtraBold</vt:lpstr>
      <vt:lpstr>Barlow Medium</vt:lpstr>
      <vt:lpstr>Barlow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AMULYA GAVANKAR</cp:lastModifiedBy>
  <cp:revision>4</cp:revision>
  <dcterms:created xsi:type="dcterms:W3CDTF">2026-10-10T12:17:55Z</dcterms:created>
  <dcterms:modified xsi:type="dcterms:W3CDTF">2026-10-10T12:30:44Z</dcterms:modified>
</cp:coreProperties>
</file>